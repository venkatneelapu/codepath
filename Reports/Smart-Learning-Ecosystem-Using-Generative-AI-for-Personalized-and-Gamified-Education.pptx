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embeddedFontLst>
    <p:embeddedFont>
      <p:font typeface="DM Sans Semi Bold" panose="020B0604020202020204" charset="0"/>
      <p:regular r:id="rId22"/>
    </p:embeddedFont>
    <p:embeddedFont>
      <p:font typeface="Inter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78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8" y="571077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000" b="1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Smart Learning Ecosystem Using Generative AI for Personalized and Gamified Education</a:t>
            </a:r>
            <a:endParaRPr lang="en-US" sz="2000" b="1" dirty="0"/>
          </a:p>
        </p:txBody>
      </p:sp>
      <p:sp>
        <p:nvSpPr>
          <p:cNvPr id="4" name="Text 1"/>
          <p:cNvSpPr/>
          <p:nvPr/>
        </p:nvSpPr>
        <p:spPr>
          <a:xfrm>
            <a:off x="3925118" y="2086878"/>
            <a:ext cx="251788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 Team: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Neelapu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Venkata Naidu (12213327)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Nithin Yalakala (12205244)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Akhil Mudadla (12212650)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Dileep Lopinti (12204945)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45058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Project Group: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2RGC0632 | </a:t>
            </a: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Course: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CSE439 | </a:t>
            </a: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Guide: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Dr Alok Misra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83686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School of Computer Science and Engineering, Lovely Professional University</a:t>
            </a:r>
            <a:endParaRPr lang="en-US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DEDC26-1868-68C0-88F7-DFDA6333CC78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7853" y="298996"/>
            <a:ext cx="5017294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Evolution of Online Learning: The Modern Challenge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777853" y="1027063"/>
            <a:ext cx="5017294" cy="901824"/>
          </a:xfrm>
          <a:prstGeom prst="roundRect">
            <a:avLst>
              <a:gd name="adj" fmla="val 1658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3877494" y="1126703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1C977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9721" y="1208931"/>
            <a:ext cx="134541" cy="134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77494" y="1495723"/>
            <a:ext cx="127285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Information Overload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877494" y="1693441"/>
            <a:ext cx="481801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Students face overwhelming content choices across multiple platforms without clear direction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777853" y="1998911"/>
            <a:ext cx="5017294" cy="901824"/>
          </a:xfrm>
          <a:prstGeom prst="roundRect">
            <a:avLst>
              <a:gd name="adj" fmla="val 1658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3877494" y="2098551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1C977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9721" y="2180779"/>
            <a:ext cx="134541" cy="1345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77494" y="2467570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Tutorial Hell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877494" y="2665288"/>
            <a:ext cx="481801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Endless tutorial consumption without practical application or measurable progress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777853" y="2970758"/>
            <a:ext cx="5017294" cy="901824"/>
          </a:xfrm>
          <a:prstGeom prst="roundRect">
            <a:avLst>
              <a:gd name="adj" fmla="val 1658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3877494" y="3070399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1C977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9721" y="3152626"/>
            <a:ext cx="134541" cy="13454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77494" y="3439418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Static Roadmaps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3877494" y="3637136"/>
            <a:ext cx="481801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Generic learning paths that ignore individual strengths, weaknesses, and goals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3777853" y="3942606"/>
            <a:ext cx="5017294" cy="901824"/>
          </a:xfrm>
          <a:prstGeom prst="roundRect">
            <a:avLst>
              <a:gd name="adj" fmla="val 1658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3877494" y="4042246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1C977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9721" y="4124474"/>
            <a:ext cx="134541" cy="13454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77494" y="4411266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Revolution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3877494" y="4608984"/>
            <a:ext cx="481801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Generative AI enables dynamic, personalized education at scale</a:t>
            </a:r>
            <a:endParaRPr lang="en-US" sz="7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FAB9AE-96E7-5A0D-310B-2121A04E9B09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37957" y="368796"/>
            <a:ext cx="7479651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This System Matters: Key Impact Metrics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1077029" y="1348085"/>
            <a:ext cx="2365697" cy="40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68%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1498435" y="188944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Course Completion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69997" y="2142604"/>
            <a:ext cx="236569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 pathways increase finishing rates compared to traditional platforms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51910" y="1348085"/>
            <a:ext cx="2365697" cy="40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40min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6773317" y="188944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Daily Engagement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51910" y="2142604"/>
            <a:ext cx="23656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active learning time per session with gamified motivation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24980" y="2956396"/>
            <a:ext cx="2365697" cy="40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93%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4061973" y="349775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Success Rate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710902" y="3750915"/>
            <a:ext cx="23656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Accurate daily roadmap generation tailored to individual progress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90827" y="4231035"/>
            <a:ext cx="4862215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combines </a:t>
            </a:r>
            <a:r>
              <a:rPr 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AI-generated personalized roadmaps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daily theory-coding-quiz workflows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mastery-based gates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AI mentorship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create an adaptive learning ecosystem.</a:t>
            </a:r>
            <a:endParaRPr lang="en-US" sz="9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C4E812-EC77-BBBA-5B00-AD51491AF731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400571"/>
            <a:ext cx="4815780" cy="120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Statement: Limitations of Current Platforms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1895921"/>
            <a:ext cx="1930822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Platforms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49610" y="2253183"/>
            <a:ext cx="2251174" cy="133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Static, non-adaptive content delivery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Same roadmap for every learner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verification of understanding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Lack of sustained motivation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contextual AI support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018979" y="1895921"/>
            <a:ext cx="1927101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18979" y="2253183"/>
            <a:ext cx="2251174" cy="173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Dynamic AI-generated personalized paths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Daily customized learning schedules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Quiz-based mastery validation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Gamification-driven consistency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contextual mentor chatbot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4155132"/>
            <a:ext cx="4815780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platforms treat all learners identically, ignoring individual progress, learning styles, and knowledge gaps. Our system addresses these critical shortcomings through adaptive intelligence.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83158"/>
            <a:ext cx="5911007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Motivation: Transforming Self-Learning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871" y="1002581"/>
            <a:ext cx="315590" cy="3155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871" y="145866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Solving Tutorial Hell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41871" y="1723355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Replace endless tutorial consumption with structured, goal-oriented learning pathways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247" y="1002581"/>
            <a:ext cx="315590" cy="3155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2247" y="1458664"/>
            <a:ext cx="189577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Structured Self-Learning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42247" y="1723355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 chaotic learning into a systematic, measurable journey with clear milestones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871" y="2330128"/>
            <a:ext cx="315590" cy="3155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1871" y="2786211"/>
            <a:ext cx="209252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AI-Powered Personalization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41871" y="3050902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Leverage generative AI to create truly individualized education experiences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247" y="2330128"/>
            <a:ext cx="315590" cy="3155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2247" y="2786211"/>
            <a:ext cx="178995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Gamified Habit Building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42247" y="3050902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 game mechanics to build consistent learning habits and increase retention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871" y="3657674"/>
            <a:ext cx="315590" cy="31559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1871" y="4113758"/>
            <a:ext cx="174865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Enhanced Engagement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41871" y="4378449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Boost learner motivation through interactive elements and achievement systems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247" y="3657674"/>
            <a:ext cx="315590" cy="31559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2247" y="411375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Better Retention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642247" y="4378449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Active coding practice and quiz-based mastery improve knowledge retention</a:t>
            </a:r>
            <a:endParaRPr lang="en-US" sz="9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B7829B-566B-1821-2039-CE11CD340546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64034"/>
            <a:ext cx="6735812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Objectives: Building the Ecosystem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013371"/>
            <a:ext cx="8229302" cy="3766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85344" y="1323072"/>
            <a:ext cx="1820404" cy="22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Specific Objectives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85344" y="1615348"/>
            <a:ext cx="2006490" cy="69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Roadmap, workflow, gates, mentor, gamification, dashboard, personalization, practice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6233" y="2735781"/>
            <a:ext cx="1820404" cy="22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Primary Pillars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1961" y="3028057"/>
            <a:ext cx="1844676" cy="34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Personalization, mastery, engagement, analytics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85344" y="3374945"/>
            <a:ext cx="1820404" cy="22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Core Objective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85344" y="3667221"/>
            <a:ext cx="2006490" cy="34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adaptive learning ecosystem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8CC294-C4E2-AD2A-8F07-67C05A719435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4470"/>
            <a:ext cx="77154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Existing Systems Analysis: Market Landscape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20974"/>
            <a:ext cx="8151763" cy="2041773"/>
          </a:xfrm>
          <a:prstGeom prst="roundRect">
            <a:avLst>
              <a:gd name="adj" fmla="val 10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72573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815554"/>
            <a:ext cx="21567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87737" y="1815554"/>
            <a:ext cx="54136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Limitations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0881" y="213218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714" y="2222004"/>
            <a:ext cx="21567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Udemy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87737" y="2222004"/>
            <a:ext cx="54136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Passive video consumption, no adaptive roadmap, no mastery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53863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628454"/>
            <a:ext cx="21567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Coursera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7737" y="2628454"/>
            <a:ext cx="54136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Fixed curriculum structure, limited personalization, no contextual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94508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14" y="3034903"/>
            <a:ext cx="21567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FreeCodeCamp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87737" y="3034903"/>
            <a:ext cx="54136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Linear progression only, no AI mentorship, minimal gamification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35153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3441353"/>
            <a:ext cx="21567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YouTube Learning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87737" y="3441353"/>
            <a:ext cx="54136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structured path, quality varies wildly, no verification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92221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Current platforms lack the </a:t>
            </a: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integrated combination of AI + roadmap + quiz + coding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that our system provides.</a:t>
            </a:r>
            <a:endParaRPr lang="en-US" sz="11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4E30F0D-3D54-7934-3260-816B170ACFE7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8030"/>
            <a:ext cx="487873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Research Gap &amp; Key Findings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79" y="1138833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9329" y="1138833"/>
            <a:ext cx="76200" cy="1060475"/>
          </a:xfrm>
          <a:prstGeom prst="roundRect">
            <a:avLst>
              <a:gd name="adj" fmla="val 27471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704106" y="1297409"/>
            <a:ext cx="2815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Finding: Structured Guidance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106" y="1597819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Learners consistently prefer guided pathways over open-ended exploration when building new skills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40684" y="1138833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1634" y="1138833"/>
            <a:ext cx="76200" cy="1060475"/>
          </a:xfrm>
          <a:prstGeom prst="roundRect">
            <a:avLst>
              <a:gd name="adj" fmla="val 27471"/>
            </a:avLst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4856411" y="1297409"/>
            <a:ext cx="27676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Finding: Gamification Impact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56411" y="1597819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Game mechanics increase engagement by 35-40% and improve habit formation significantly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8379" y="2336676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29" y="2336676"/>
            <a:ext cx="76200" cy="1060475"/>
          </a:xfrm>
          <a:prstGeom prst="roundRect">
            <a:avLst>
              <a:gd name="adj" fmla="val 27471"/>
            </a:avLst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106" y="2495252"/>
            <a:ext cx="253320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Finding: AI Personalization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4106" y="2795662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Dynamic AI enables real-time adaptation to individual learning patterns and knowledge gaps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40684" y="2336676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1634" y="2336676"/>
            <a:ext cx="76200" cy="1060475"/>
          </a:xfrm>
          <a:prstGeom prst="roundRect">
            <a:avLst>
              <a:gd name="adj" fmla="val 27471"/>
            </a:avLst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56411" y="2495252"/>
            <a:ext cx="2221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Finding: Active Coding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56411" y="2795662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Hands-on practice improves retention rates by 50% compared to passive video watching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8379" y="3551634"/>
            <a:ext cx="8167241" cy="1163836"/>
          </a:xfrm>
          <a:prstGeom prst="roundRect">
            <a:avLst>
              <a:gd name="adj" fmla="val 1799"/>
            </a:avLst>
          </a:prstGeom>
          <a:solidFill>
            <a:srgbClr val="FCF2B5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3737893"/>
            <a:ext cx="218033" cy="1744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85465" y="3723829"/>
            <a:ext cx="202078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Research Gap Identified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85465" y="4079230"/>
            <a:ext cx="75306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existing platform integrates </a:t>
            </a:r>
            <a:r>
              <a:rPr lang="en-US" sz="10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AI-generated personalized roadmaps</a:t>
            </a: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0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contextual mentor chatbots</a:t>
            </a: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0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quiz-based mastery validation</a:t>
            </a: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10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gamified consistency systems</a:t>
            </a: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into a unified ecosystem.</a:t>
            </a:r>
            <a:endParaRPr lang="en-US" sz="10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318699-C7B6-F62E-4699-6DC5B812E5C6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7993"/>
            <a:ext cx="61449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Methodology: Development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454497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341" y="2208701"/>
            <a:ext cx="407584" cy="4075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696638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Test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200" y="2209465"/>
            <a:ext cx="407584" cy="4075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02299" y="369663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Develop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442" y="2209465"/>
            <a:ext cx="407584" cy="4075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10540" y="369663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9683" y="2209465"/>
            <a:ext cx="407584" cy="4075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69663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Literature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772" y="2209465"/>
            <a:ext cx="407584" cy="4075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69663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</a:t>
            </a:r>
            <a:endParaRPr lang="en-US" sz="1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477F54-EBBD-FC3B-D4F0-CFB63EB1015A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96565"/>
            <a:ext cx="763019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Technology Stack: Full-Stack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276052"/>
            <a:ext cx="2255118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Frontend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8379" y="1675061"/>
            <a:ext cx="3913436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Next.js 15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React framework for server-side rendering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19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Component-based UI development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Tailwind CSS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Utility-first styling framework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CodeMirror 6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Integrated code editor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6947" y="1276052"/>
            <a:ext cx="2326258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Backend Infrastructure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46947" y="1675061"/>
            <a:ext cx="3913436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Next.js API Routes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Backend endpoint handling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Node.js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Server runtime environment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MongoDB Atlas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NoSQL database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JWT &amp; bcrypt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Authentication security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8379" y="2907655"/>
            <a:ext cx="4014936" cy="800919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27906" y="304718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7906" y="3347591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Google Gemini 2.5 Flash for generative AI capabilities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0684" y="2907655"/>
            <a:ext cx="4014936" cy="800919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780211" y="304718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80211" y="3347591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Zod for runtime type checking and data 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8379" y="3845942"/>
            <a:ext cx="4014936" cy="800919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27906" y="398546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Visualisation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7906" y="4285878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Recharts for interactive data dashboards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0684" y="3845942"/>
            <a:ext cx="4014936" cy="800919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0211" y="398546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80211" y="4285878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Vercel for production hosting and CDN</a:t>
            </a:r>
            <a:endParaRPr lang="en-US" sz="10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97F4B9-4076-A21E-E0AF-0FC1D6385181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74E77D-02F6-6D10-4AAC-A7664A7C948B}"/>
              </a:ext>
            </a:extLst>
          </p:cNvPr>
          <p:cNvSpPr/>
          <p:nvPr/>
        </p:nvSpPr>
        <p:spPr>
          <a:xfrm>
            <a:off x="441871" y="368201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Architecture</a:t>
            </a:r>
            <a:endParaRPr lang="en-US" sz="2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45A9DF7-6AAE-B74A-F63F-17925DDAB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71" y="987623"/>
            <a:ext cx="631254" cy="75753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373A1F4-54D0-6CD2-B458-33EB4B3D1871}"/>
              </a:ext>
            </a:extLst>
          </p:cNvPr>
          <p:cNvSpPr/>
          <p:nvPr/>
        </p:nvSpPr>
        <p:spPr>
          <a:xfrm>
            <a:off x="1185565" y="111383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Frontend Interface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D3A32CF-E7D3-493F-BDA2-6CFF8DA8E118}"/>
              </a:ext>
            </a:extLst>
          </p:cNvPr>
          <p:cNvSpPr/>
          <p:nvPr/>
        </p:nvSpPr>
        <p:spPr>
          <a:xfrm>
            <a:off x="1185565" y="1378521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React-based UI with responsive design for learning dashboard, coding editor, and progress tracking</a:t>
            </a:r>
            <a:endParaRPr lang="en-US" sz="9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D25E7734-BF33-735A-B4CE-0C180EA4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745159"/>
            <a:ext cx="631254" cy="75753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0583D85-EFE6-1537-25DB-CDDB146670B3}"/>
              </a:ext>
            </a:extLst>
          </p:cNvPr>
          <p:cNvSpPr/>
          <p:nvPr/>
        </p:nvSpPr>
        <p:spPr>
          <a:xfrm>
            <a:off x="1185565" y="187136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6791715-2BB7-4F86-281E-2DFFD1E3C847}"/>
              </a:ext>
            </a:extLst>
          </p:cNvPr>
          <p:cNvSpPr/>
          <p:nvPr/>
        </p:nvSpPr>
        <p:spPr>
          <a:xfrm>
            <a:off x="1185565" y="2136056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Next.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js backend handling request routing, data validation, and service orchestration</a:t>
            </a:r>
            <a:endParaRPr lang="en-US" sz="9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E36D3F1-2B1E-22E7-FD4F-870C97135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1" y="2502694"/>
            <a:ext cx="631254" cy="75753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53CC40B6-A61D-213E-382A-F96ECC6A9274}"/>
              </a:ext>
            </a:extLst>
          </p:cNvPr>
          <p:cNvSpPr/>
          <p:nvPr/>
        </p:nvSpPr>
        <p:spPr>
          <a:xfrm>
            <a:off x="1185565" y="262890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Gemini AI Engine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20119EB-2E39-6A00-613F-62DD9023FF4C}"/>
              </a:ext>
            </a:extLst>
          </p:cNvPr>
          <p:cNvSpPr/>
          <p:nvPr/>
        </p:nvSpPr>
        <p:spPr>
          <a:xfrm>
            <a:off x="1185565" y="2893591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LLM integration for roadmap generation, mentor chat, and adaptive content creation</a:t>
            </a:r>
            <a:endParaRPr lang="en-US" sz="9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B4DA9EC1-7ECD-846B-0421-BA81B49F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71" y="3260229"/>
            <a:ext cx="631254" cy="75753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E1BA754-F894-5F0F-9A1F-A1F13F63F464}"/>
              </a:ext>
            </a:extLst>
          </p:cNvPr>
          <p:cNvSpPr/>
          <p:nvPr/>
        </p:nvSpPr>
        <p:spPr>
          <a:xfrm>
            <a:off x="1185565" y="338643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MongoDB Database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B6DA8BE-B730-D0CF-8895-3BDF34035FE5}"/>
              </a:ext>
            </a:extLst>
          </p:cNvPr>
          <p:cNvSpPr/>
          <p:nvPr/>
        </p:nvSpPr>
        <p:spPr>
          <a:xfrm>
            <a:off x="1185565" y="3651126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NoSQL storage for user profiles, learning progress, quiz results, and analytics</a:t>
            </a:r>
            <a:endParaRPr lang="en-US" sz="95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C2891062-A7CA-5D3B-C51B-C0E26AA31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871" y="4017764"/>
            <a:ext cx="631254" cy="757535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303FB07A-098B-ED21-1787-22410D78A129}"/>
              </a:ext>
            </a:extLst>
          </p:cNvPr>
          <p:cNvSpPr/>
          <p:nvPr/>
        </p:nvSpPr>
        <p:spPr>
          <a:xfrm>
            <a:off x="1185565" y="4143970"/>
            <a:ext cx="21720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Authentication &amp; Dashboard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D690D46-55F0-C798-A27A-8E78CC6978D2}"/>
              </a:ext>
            </a:extLst>
          </p:cNvPr>
          <p:cNvSpPr/>
          <p:nvPr/>
        </p:nvSpPr>
        <p:spPr>
          <a:xfrm>
            <a:off x="1185565" y="4408661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user management with JWT tokens and real-time analytics visualization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04666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DA4EC5-B32D-0DA6-684D-9F2AD2C8DB23}"/>
              </a:ext>
            </a:extLst>
          </p:cNvPr>
          <p:cNvSpPr/>
          <p:nvPr/>
        </p:nvSpPr>
        <p:spPr>
          <a:xfrm>
            <a:off x="1285875" y="322957"/>
            <a:ext cx="23812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Workflow</a:t>
            </a:r>
            <a:endParaRPr lang="en-US" sz="18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942ED6-6CDB-9F56-4E9A-0A21D77EE30E}"/>
              </a:ext>
            </a:extLst>
          </p:cNvPr>
          <p:cNvSpPr/>
          <p:nvPr/>
        </p:nvSpPr>
        <p:spPr>
          <a:xfrm>
            <a:off x="4564856" y="748605"/>
            <a:ext cx="14288" cy="407193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53BDC6-1D44-0ED6-3CEF-3CBB88833216}"/>
              </a:ext>
            </a:extLst>
          </p:cNvPr>
          <p:cNvSpPr/>
          <p:nvPr/>
        </p:nvSpPr>
        <p:spPr>
          <a:xfrm>
            <a:off x="4193381" y="848618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B87B80F-4DD9-A341-5BE4-43B58D65DD09}"/>
              </a:ext>
            </a:extLst>
          </p:cNvPr>
          <p:cNvSpPr/>
          <p:nvPr/>
        </p:nvSpPr>
        <p:spPr>
          <a:xfrm>
            <a:off x="4464844" y="748605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7B7074-2566-54E0-78F6-6381259D1CAD}"/>
              </a:ext>
            </a:extLst>
          </p:cNvPr>
          <p:cNvSpPr/>
          <p:nvPr/>
        </p:nvSpPr>
        <p:spPr>
          <a:xfrm>
            <a:off x="4500563" y="766465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2232D0-42A4-E40D-F5D7-27893B1E8D5A}"/>
              </a:ext>
            </a:extLst>
          </p:cNvPr>
          <p:cNvSpPr/>
          <p:nvPr/>
        </p:nvSpPr>
        <p:spPr>
          <a:xfrm>
            <a:off x="2905125" y="78134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Authentication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94FE326-6C73-02FE-9BB5-270685E60501}"/>
              </a:ext>
            </a:extLst>
          </p:cNvPr>
          <p:cNvSpPr/>
          <p:nvPr/>
        </p:nvSpPr>
        <p:spPr>
          <a:xfrm>
            <a:off x="1285875" y="968573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signup/login with profile creation</a:t>
            </a:r>
            <a:endParaRPr lang="en-US" sz="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E26AA0D-7944-887F-C569-6CB399F45120}"/>
              </a:ext>
            </a:extLst>
          </p:cNvPr>
          <p:cNvSpPr/>
          <p:nvPr/>
        </p:nvSpPr>
        <p:spPr>
          <a:xfrm>
            <a:off x="4664869" y="1357610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1988D7E-8A29-3CD1-F2A4-7CCAC7596E51}"/>
              </a:ext>
            </a:extLst>
          </p:cNvPr>
          <p:cNvSpPr/>
          <p:nvPr/>
        </p:nvSpPr>
        <p:spPr>
          <a:xfrm>
            <a:off x="4464844" y="1257598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A687E1-C8EA-4096-CC35-76B8E1BF239E}"/>
              </a:ext>
            </a:extLst>
          </p:cNvPr>
          <p:cNvSpPr/>
          <p:nvPr/>
        </p:nvSpPr>
        <p:spPr>
          <a:xfrm>
            <a:off x="4500563" y="1275457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BAAD61-27DC-0868-B521-768509931C94}"/>
              </a:ext>
            </a:extLst>
          </p:cNvPr>
          <p:cNvSpPr/>
          <p:nvPr/>
        </p:nvSpPr>
        <p:spPr>
          <a:xfrm>
            <a:off x="5048250" y="129034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Topic Selection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35FA47-9AE9-E074-F426-903491AD5CA9}"/>
              </a:ext>
            </a:extLst>
          </p:cNvPr>
          <p:cNvSpPr/>
          <p:nvPr/>
        </p:nvSpPr>
        <p:spPr>
          <a:xfrm>
            <a:off x="5048250" y="1477566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Browse or search coding topics</a:t>
            </a:r>
            <a:endParaRPr lang="en-US" sz="7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FBA00D2-32BE-4B8C-F0EE-4BFE3CAA1FE5}"/>
              </a:ext>
            </a:extLst>
          </p:cNvPr>
          <p:cNvSpPr/>
          <p:nvPr/>
        </p:nvSpPr>
        <p:spPr>
          <a:xfrm>
            <a:off x="4193381" y="1818977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8B6073E-2008-554C-B6C6-2DEF9619D8DA}"/>
              </a:ext>
            </a:extLst>
          </p:cNvPr>
          <p:cNvSpPr/>
          <p:nvPr/>
        </p:nvSpPr>
        <p:spPr>
          <a:xfrm>
            <a:off x="4464844" y="1718965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DA762D-5E34-C147-914D-B016795167CF}"/>
              </a:ext>
            </a:extLst>
          </p:cNvPr>
          <p:cNvSpPr/>
          <p:nvPr/>
        </p:nvSpPr>
        <p:spPr>
          <a:xfrm>
            <a:off x="4500563" y="1736824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900F623-B305-1025-444E-0E68A3D9C851}"/>
              </a:ext>
            </a:extLst>
          </p:cNvPr>
          <p:cNvSpPr/>
          <p:nvPr/>
        </p:nvSpPr>
        <p:spPr>
          <a:xfrm>
            <a:off x="2905125" y="175170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Roadmap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81A7A7-F555-4996-6270-EA6F6FFF9DA6}"/>
              </a:ext>
            </a:extLst>
          </p:cNvPr>
          <p:cNvSpPr/>
          <p:nvPr/>
        </p:nvSpPr>
        <p:spPr>
          <a:xfrm>
            <a:off x="1285875" y="1938933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 learning path generation</a:t>
            </a:r>
            <a:endParaRPr lang="en-US" sz="7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289550D-0AC2-A81C-2D26-3B31B5673232}"/>
              </a:ext>
            </a:extLst>
          </p:cNvPr>
          <p:cNvSpPr/>
          <p:nvPr/>
        </p:nvSpPr>
        <p:spPr>
          <a:xfrm>
            <a:off x="4664869" y="2280345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3D3B77D-8C26-89DB-397B-F18744098F63}"/>
              </a:ext>
            </a:extLst>
          </p:cNvPr>
          <p:cNvSpPr/>
          <p:nvPr/>
        </p:nvSpPr>
        <p:spPr>
          <a:xfrm>
            <a:off x="4464844" y="2180332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0A28E25-5221-0B54-29EF-88A473E5234E}"/>
              </a:ext>
            </a:extLst>
          </p:cNvPr>
          <p:cNvSpPr/>
          <p:nvPr/>
        </p:nvSpPr>
        <p:spPr>
          <a:xfrm>
            <a:off x="4500563" y="2198191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269A1AF-AEF4-4A29-F8A4-242358F08942}"/>
              </a:ext>
            </a:extLst>
          </p:cNvPr>
          <p:cNvSpPr/>
          <p:nvPr/>
        </p:nvSpPr>
        <p:spPr>
          <a:xfrm>
            <a:off x="5048250" y="2213074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Daily Learning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D14BBB-9E53-365B-FD83-11156AFC50BC}"/>
              </a:ext>
            </a:extLst>
          </p:cNvPr>
          <p:cNvSpPr/>
          <p:nvPr/>
        </p:nvSpPr>
        <p:spPr>
          <a:xfrm>
            <a:off x="5048250" y="2400300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Structured content delivery</a:t>
            </a:r>
            <a:endParaRPr lang="en-US" sz="7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334CD5F-95BE-C5F0-14B0-C2980DE8A5CD}"/>
              </a:ext>
            </a:extLst>
          </p:cNvPr>
          <p:cNvSpPr/>
          <p:nvPr/>
        </p:nvSpPr>
        <p:spPr>
          <a:xfrm>
            <a:off x="4193381" y="2741712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BE85A6C-2E0B-E8A8-D1BB-53FC43A9D9F7}"/>
              </a:ext>
            </a:extLst>
          </p:cNvPr>
          <p:cNvSpPr/>
          <p:nvPr/>
        </p:nvSpPr>
        <p:spPr>
          <a:xfrm>
            <a:off x="4464844" y="2641699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4C86DAE-0C00-1152-0DA8-F94335836BB9}"/>
              </a:ext>
            </a:extLst>
          </p:cNvPr>
          <p:cNvSpPr/>
          <p:nvPr/>
        </p:nvSpPr>
        <p:spPr>
          <a:xfrm>
            <a:off x="4500563" y="2659559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34BB916-6356-E0A8-B20E-328E6F3700EE}"/>
              </a:ext>
            </a:extLst>
          </p:cNvPr>
          <p:cNvSpPr/>
          <p:nvPr/>
        </p:nvSpPr>
        <p:spPr>
          <a:xfrm>
            <a:off x="2905125" y="2674441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Coding Practice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EC04C6E-99DD-E382-4E23-17478CE57BBA}"/>
              </a:ext>
            </a:extLst>
          </p:cNvPr>
          <p:cNvSpPr/>
          <p:nvPr/>
        </p:nvSpPr>
        <p:spPr>
          <a:xfrm>
            <a:off x="1285875" y="2861667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Embedded editor with execution</a:t>
            </a:r>
            <a:endParaRPr lang="en-US" sz="7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2E15B2-0999-0DC2-8CF3-AAC16DEFF891}"/>
              </a:ext>
            </a:extLst>
          </p:cNvPr>
          <p:cNvSpPr/>
          <p:nvPr/>
        </p:nvSpPr>
        <p:spPr>
          <a:xfrm>
            <a:off x="4664869" y="3203079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6D7F50A-2D44-7DCA-1E09-B448E7F4C23E}"/>
              </a:ext>
            </a:extLst>
          </p:cNvPr>
          <p:cNvSpPr/>
          <p:nvPr/>
        </p:nvSpPr>
        <p:spPr>
          <a:xfrm>
            <a:off x="4464844" y="3103066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C22A574-EB0F-A59B-259F-D5476547D2A4}"/>
              </a:ext>
            </a:extLst>
          </p:cNvPr>
          <p:cNvSpPr/>
          <p:nvPr/>
        </p:nvSpPr>
        <p:spPr>
          <a:xfrm>
            <a:off x="4500563" y="3120926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187A419-6A68-BEC4-55C4-FD3D9A151C72}"/>
              </a:ext>
            </a:extLst>
          </p:cNvPr>
          <p:cNvSpPr/>
          <p:nvPr/>
        </p:nvSpPr>
        <p:spPr>
          <a:xfrm>
            <a:off x="5048250" y="313580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Quiz Validation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CDA5583-D400-5A99-0397-00AD1C139905}"/>
              </a:ext>
            </a:extLst>
          </p:cNvPr>
          <p:cNvSpPr/>
          <p:nvPr/>
        </p:nvSpPr>
        <p:spPr>
          <a:xfrm>
            <a:off x="5048250" y="3323034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Knowledge assessment</a:t>
            </a:r>
            <a:endParaRPr lang="en-US" sz="7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8B5F693-0ACA-CDF1-91A9-F2A7F3F0C695}"/>
              </a:ext>
            </a:extLst>
          </p:cNvPr>
          <p:cNvSpPr/>
          <p:nvPr/>
        </p:nvSpPr>
        <p:spPr>
          <a:xfrm>
            <a:off x="4193381" y="3664446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CD85179-A68F-3556-4EAF-DA9225004D60}"/>
              </a:ext>
            </a:extLst>
          </p:cNvPr>
          <p:cNvSpPr/>
          <p:nvPr/>
        </p:nvSpPr>
        <p:spPr>
          <a:xfrm>
            <a:off x="4464844" y="3564434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DD00DED-BC8E-6D91-B408-C08372CBFC17}"/>
              </a:ext>
            </a:extLst>
          </p:cNvPr>
          <p:cNvSpPr/>
          <p:nvPr/>
        </p:nvSpPr>
        <p:spPr>
          <a:xfrm>
            <a:off x="4500563" y="3582293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B432623-2782-9286-0B17-32E96CF89059}"/>
              </a:ext>
            </a:extLst>
          </p:cNvPr>
          <p:cNvSpPr/>
          <p:nvPr/>
        </p:nvSpPr>
        <p:spPr>
          <a:xfrm>
            <a:off x="2905125" y="3597176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Mastery Gate</a:t>
            </a:r>
            <a:endParaRPr lang="en-US" sz="9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0F1F4A9-1FE3-7B02-2A75-B82453D90A0A}"/>
              </a:ext>
            </a:extLst>
          </p:cNvPr>
          <p:cNvSpPr/>
          <p:nvPr/>
        </p:nvSpPr>
        <p:spPr>
          <a:xfrm>
            <a:off x="1285875" y="3784402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Progression validation</a:t>
            </a:r>
            <a:endParaRPr lang="en-US" sz="7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70A1D5F-199F-6F1A-B93A-39F49F1346AD}"/>
              </a:ext>
            </a:extLst>
          </p:cNvPr>
          <p:cNvSpPr/>
          <p:nvPr/>
        </p:nvSpPr>
        <p:spPr>
          <a:xfrm>
            <a:off x="4664869" y="4125813"/>
            <a:ext cx="285750" cy="14288"/>
          </a:xfrm>
          <a:prstGeom prst="roundRect">
            <a:avLst>
              <a:gd name="adj" fmla="val 99997"/>
            </a:avLst>
          </a:prstGeom>
          <a:solidFill>
            <a:srgbClr val="D8D4D4"/>
          </a:solidFill>
          <a:ln/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2CCE285-6986-C8D8-E592-732DAAC7ACEA}"/>
              </a:ext>
            </a:extLst>
          </p:cNvPr>
          <p:cNvSpPr/>
          <p:nvPr/>
        </p:nvSpPr>
        <p:spPr>
          <a:xfrm>
            <a:off x="4464844" y="4025801"/>
            <a:ext cx="214313" cy="2143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735C331-4926-CBBF-3851-3A146015D3CF}"/>
              </a:ext>
            </a:extLst>
          </p:cNvPr>
          <p:cNvSpPr/>
          <p:nvPr/>
        </p:nvSpPr>
        <p:spPr>
          <a:xfrm>
            <a:off x="4500563" y="4043660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ED8DDF4-3721-469A-41A1-80D8B8105419}"/>
              </a:ext>
            </a:extLst>
          </p:cNvPr>
          <p:cNvSpPr/>
          <p:nvPr/>
        </p:nvSpPr>
        <p:spPr>
          <a:xfrm>
            <a:off x="5048250" y="405854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Badge Updates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133BBD8-5709-9E3D-CF6D-92C633F64EEA}"/>
              </a:ext>
            </a:extLst>
          </p:cNvPr>
          <p:cNvSpPr/>
          <p:nvPr/>
        </p:nvSpPr>
        <p:spPr>
          <a:xfrm>
            <a:off x="5048250" y="4245769"/>
            <a:ext cx="280987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Gamification rewards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7109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77B11C-B405-5B1F-6528-4DE817E40FCD}"/>
              </a:ext>
            </a:extLst>
          </p:cNvPr>
          <p:cNvSpPr/>
          <p:nvPr/>
        </p:nvSpPr>
        <p:spPr>
          <a:xfrm>
            <a:off x="441871" y="383158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Core Modules</a:t>
            </a:r>
            <a:endParaRPr lang="en-US" sz="2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06DBD15-4E1F-D470-416E-4EA65B0E0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871" y="1002581"/>
            <a:ext cx="315590" cy="31559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A3F8F30-ED9A-F89D-10F7-C1A6141A63E4}"/>
              </a:ext>
            </a:extLst>
          </p:cNvPr>
          <p:cNvSpPr/>
          <p:nvPr/>
        </p:nvSpPr>
        <p:spPr>
          <a:xfrm>
            <a:off x="441871" y="145866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Roadmap Engine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AF7BDE7-F72F-65E4-4B18-3C028B9D6F18}"/>
              </a:ext>
            </a:extLst>
          </p:cNvPr>
          <p:cNvSpPr/>
          <p:nvPr/>
        </p:nvSpPr>
        <p:spPr>
          <a:xfrm>
            <a:off x="441871" y="1723355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Generates adaptive learning paths using AI analysis of topic complexity, user skill level, and learning patterns</a:t>
            </a:r>
            <a:endParaRPr lang="en-US" sz="9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ACA2EC7E-93E0-FB24-5C4F-AA1B84493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247" y="1002581"/>
            <a:ext cx="315590" cy="31559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E1F3E1C-CFD6-EFCE-8492-2B1F9BF46188}"/>
              </a:ext>
            </a:extLst>
          </p:cNvPr>
          <p:cNvSpPr/>
          <p:nvPr/>
        </p:nvSpPr>
        <p:spPr>
          <a:xfrm>
            <a:off x="4642247" y="145866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Learning Interface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967C4E1-D542-BC7A-1A36-F3E03C26243C}"/>
              </a:ext>
            </a:extLst>
          </p:cNvPr>
          <p:cNvSpPr/>
          <p:nvPr/>
        </p:nvSpPr>
        <p:spPr>
          <a:xfrm>
            <a:off x="4642247" y="1723355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Interactive content viewer with embedded code editor, documentation access, and multimedia learning materials</a:t>
            </a:r>
            <a:endParaRPr lang="en-US" sz="9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A7BB285C-909F-82D2-59EE-BE4DA4619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871" y="2330128"/>
            <a:ext cx="315590" cy="31559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5474061D-2431-4A8E-E3A8-1EFE2E51612D}"/>
              </a:ext>
            </a:extLst>
          </p:cNvPr>
          <p:cNvSpPr/>
          <p:nvPr/>
        </p:nvSpPr>
        <p:spPr>
          <a:xfrm>
            <a:off x="441871" y="278621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Mastery Gate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347736D-E602-97F8-8BC6-4F1A79A6192F}"/>
              </a:ext>
            </a:extLst>
          </p:cNvPr>
          <p:cNvSpPr/>
          <p:nvPr/>
        </p:nvSpPr>
        <p:spPr>
          <a:xfrm>
            <a:off x="441871" y="3050902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Assessment checkpoints requiring minimum scores before progression to ensure knowledge retention</a:t>
            </a:r>
            <a:endParaRPr lang="en-US" sz="9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2CFC77AB-4F98-4E49-0D4E-E694E35BB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2247" y="2330128"/>
            <a:ext cx="315590" cy="31559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1A3B755-ED2F-C560-C6C7-78B8C9A29A6C}"/>
              </a:ext>
            </a:extLst>
          </p:cNvPr>
          <p:cNvSpPr/>
          <p:nvPr/>
        </p:nvSpPr>
        <p:spPr>
          <a:xfrm>
            <a:off x="4642247" y="278621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Mentor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B7742CD-4701-6DF0-6546-903E5DCB9409}"/>
              </a:ext>
            </a:extLst>
          </p:cNvPr>
          <p:cNvSpPr/>
          <p:nvPr/>
        </p:nvSpPr>
        <p:spPr>
          <a:xfrm>
            <a:off x="4642247" y="3050902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chat assistance for debugging, concept clarification, and personalized guidance using Gemini AI</a:t>
            </a:r>
            <a:endParaRPr lang="en-US" sz="95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436AD40F-9FF7-D06A-85D2-4D24DA6AE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871" y="3657674"/>
            <a:ext cx="315590" cy="31559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B2D40769-1008-E6DB-BAF4-EAD4243EC576}"/>
              </a:ext>
            </a:extLst>
          </p:cNvPr>
          <p:cNvSpPr/>
          <p:nvPr/>
        </p:nvSpPr>
        <p:spPr>
          <a:xfrm>
            <a:off x="441871" y="411375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2E1A55C-9EED-98FA-2F74-53A1809FB91B}"/>
              </a:ext>
            </a:extLst>
          </p:cNvPr>
          <p:cNvSpPr/>
          <p:nvPr/>
        </p:nvSpPr>
        <p:spPr>
          <a:xfrm>
            <a:off x="441871" y="4378449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Streak tracking, badges, leaderboards, and achievement systems to motivate consistent learning</a:t>
            </a:r>
            <a:endParaRPr lang="en-US" sz="950" dirty="0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0092DF4C-7099-BA7A-04FA-E9829EB24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247" y="3657674"/>
            <a:ext cx="315590" cy="315590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52262736-66AB-9EB0-8A80-44955464D8D0}"/>
              </a:ext>
            </a:extLst>
          </p:cNvPr>
          <p:cNvSpPr/>
          <p:nvPr/>
        </p:nvSpPr>
        <p:spPr>
          <a:xfrm>
            <a:off x="4642247" y="4113758"/>
            <a:ext cx="158174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6FBAD5E-7E90-4457-0509-5A8172A61DFD}"/>
              </a:ext>
            </a:extLst>
          </p:cNvPr>
          <p:cNvSpPr/>
          <p:nvPr/>
        </p:nvSpPr>
        <p:spPr>
          <a:xfrm>
            <a:off x="4642247" y="4378449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Visual progress tracking with charts, completion metrics, skill heatmaps, and performance insights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22900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B4295F-90CA-FD5A-5085-AF913B72ED4D}"/>
              </a:ext>
            </a:extLst>
          </p:cNvPr>
          <p:cNvSpPr/>
          <p:nvPr/>
        </p:nvSpPr>
        <p:spPr>
          <a:xfrm>
            <a:off x="496119" y="863798"/>
            <a:ext cx="38934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Requirements Analysis</a:t>
            </a: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0FA190-834F-D37C-9DE9-BEE088DC2EF2}"/>
              </a:ext>
            </a:extLst>
          </p:cNvPr>
          <p:cNvSpPr/>
          <p:nvPr/>
        </p:nvSpPr>
        <p:spPr>
          <a:xfrm>
            <a:off x="496119" y="1661145"/>
            <a:ext cx="2562299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Functional Requirements</a:t>
            </a:r>
            <a:endParaRPr lang="en-US" sz="1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0026B-47C1-701B-87F9-B304BBBA95D3}"/>
              </a:ext>
            </a:extLst>
          </p:cNvPr>
          <p:cNvSpPr/>
          <p:nvPr/>
        </p:nvSpPr>
        <p:spPr>
          <a:xfrm>
            <a:off x="496119" y="2068711"/>
            <a:ext cx="3902943" cy="2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authentication with secure credentials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Dynamic roadmap generation using AI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Interactive quiz engine with auto-grading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chat mentor with context awareness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Streak tracking with daily reminders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Badge awarding system based on milestones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dashboard with progress analytics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Embedded code execution environment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B24252-04E7-34C1-837C-04C7E25F24C0}"/>
              </a:ext>
            </a:extLst>
          </p:cNvPr>
          <p:cNvSpPr/>
          <p:nvPr/>
        </p:nvSpPr>
        <p:spPr>
          <a:xfrm>
            <a:off x="4749701" y="1661145"/>
            <a:ext cx="3092128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Non-Functional Requirements</a:t>
            </a:r>
            <a:endParaRPr lang="en-US" sz="1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242C74-F821-B654-810E-6DA44980795E}"/>
              </a:ext>
            </a:extLst>
          </p:cNvPr>
          <p:cNvSpPr/>
          <p:nvPr/>
        </p:nvSpPr>
        <p:spPr>
          <a:xfrm>
            <a:off x="4749701" y="2068711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Performance: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Response time under 2 seconds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Security: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Data encryption at rest and transit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Scalability: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Support 1000+ concurrent users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Availability: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99.5% uptime guarantee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Maintainability: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Modular code architecture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Usability: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WCAG 2.1 accessibility compliant</a:t>
            </a:r>
            <a:endParaRPr lang="en-US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8B94B9-0BB4-898B-EFC9-72BF32A10130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902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150C1F-97AC-8D99-AB0F-A44F114CDF7C}"/>
              </a:ext>
            </a:extLst>
          </p:cNvPr>
          <p:cNvSpPr/>
          <p:nvPr/>
        </p:nvSpPr>
        <p:spPr>
          <a:xfrm>
            <a:off x="457349" y="366415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Testing &amp; Validation</a:t>
            </a:r>
            <a:endParaRPr lang="en-US" sz="25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644FE7-5934-B9D9-548B-634D3F667635}"/>
              </a:ext>
            </a:extLst>
          </p:cNvPr>
          <p:cNvSpPr/>
          <p:nvPr/>
        </p:nvSpPr>
        <p:spPr>
          <a:xfrm>
            <a:off x="457349" y="82294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Test Types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69C555-714F-9BFB-87CE-20DFB64463C5}"/>
              </a:ext>
            </a:extLst>
          </p:cNvPr>
          <p:cNvSpPr/>
          <p:nvPr/>
        </p:nvSpPr>
        <p:spPr>
          <a:xfrm>
            <a:off x="457349" y="1207740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13732D-A589-E3C3-FAC2-C70A16A58194}"/>
              </a:ext>
            </a:extLst>
          </p:cNvPr>
          <p:cNvSpPr/>
          <p:nvPr/>
        </p:nvSpPr>
        <p:spPr>
          <a:xfrm>
            <a:off x="457349" y="1415579"/>
            <a:ext cx="4054376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59E4EC-4765-5F02-D5E0-987AA1A306D3}"/>
              </a:ext>
            </a:extLst>
          </p:cNvPr>
          <p:cNvSpPr/>
          <p:nvPr/>
        </p:nvSpPr>
        <p:spPr>
          <a:xfrm>
            <a:off x="457349" y="150948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Functional Testing</a:t>
            </a:r>
            <a:endParaRPr lang="en-US" sz="12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A5F8AD-AA35-128B-089E-EF7E64740E49}"/>
              </a:ext>
            </a:extLst>
          </p:cNvPr>
          <p:cNvSpPr/>
          <p:nvPr/>
        </p:nvSpPr>
        <p:spPr>
          <a:xfrm>
            <a:off x="457349" y="1785863"/>
            <a:ext cx="405437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verification and integration testing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0A3552-2130-6819-C356-86CDCD02CE91}"/>
              </a:ext>
            </a:extLst>
          </p:cNvPr>
          <p:cNvSpPr/>
          <p:nvPr/>
        </p:nvSpPr>
        <p:spPr>
          <a:xfrm>
            <a:off x="4632201" y="1207740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DEB4F19-20E4-0DCB-3F45-D34AC3B10100}"/>
              </a:ext>
            </a:extLst>
          </p:cNvPr>
          <p:cNvSpPr/>
          <p:nvPr/>
        </p:nvSpPr>
        <p:spPr>
          <a:xfrm>
            <a:off x="4632201" y="1415579"/>
            <a:ext cx="4054450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EED5EC-AEE0-9896-B7CB-9E97BD24E33B}"/>
              </a:ext>
            </a:extLst>
          </p:cNvPr>
          <p:cNvSpPr/>
          <p:nvPr/>
        </p:nvSpPr>
        <p:spPr>
          <a:xfrm>
            <a:off x="4632201" y="150948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Structural Testing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586DE7-BF24-3AE8-73AC-62BE97F9B610}"/>
              </a:ext>
            </a:extLst>
          </p:cNvPr>
          <p:cNvSpPr/>
          <p:nvPr/>
        </p:nvSpPr>
        <p:spPr>
          <a:xfrm>
            <a:off x="4632201" y="1785863"/>
            <a:ext cx="405445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Code coverage and architecture validation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470787-F28A-EF30-276C-0EC5B4D4D6D7}"/>
              </a:ext>
            </a:extLst>
          </p:cNvPr>
          <p:cNvSpPr/>
          <p:nvPr/>
        </p:nvSpPr>
        <p:spPr>
          <a:xfrm>
            <a:off x="457349" y="2205186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4A94E99-F58C-025B-810B-E4492F32BEF9}"/>
              </a:ext>
            </a:extLst>
          </p:cNvPr>
          <p:cNvSpPr/>
          <p:nvPr/>
        </p:nvSpPr>
        <p:spPr>
          <a:xfrm>
            <a:off x="457349" y="2413025"/>
            <a:ext cx="4054376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0BB8F9-32CC-9B9B-BF0A-40F5573E2569}"/>
              </a:ext>
            </a:extLst>
          </p:cNvPr>
          <p:cNvSpPr/>
          <p:nvPr/>
        </p:nvSpPr>
        <p:spPr>
          <a:xfrm>
            <a:off x="457349" y="250693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Performance Testing</a:t>
            </a:r>
            <a:endParaRPr lang="en-US" sz="12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1AAE3C-A9F0-CA79-511C-E574B5D0D951}"/>
              </a:ext>
            </a:extLst>
          </p:cNvPr>
          <p:cNvSpPr/>
          <p:nvPr/>
        </p:nvSpPr>
        <p:spPr>
          <a:xfrm>
            <a:off x="457349" y="2783309"/>
            <a:ext cx="405437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Load testing with simulated user traffic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5489C93-BCC7-D31D-5832-6D83BB8EC635}"/>
              </a:ext>
            </a:extLst>
          </p:cNvPr>
          <p:cNvSpPr/>
          <p:nvPr/>
        </p:nvSpPr>
        <p:spPr>
          <a:xfrm>
            <a:off x="4632201" y="2205186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669E2EE-3E66-EDBA-27D4-0247B7C11FA2}"/>
              </a:ext>
            </a:extLst>
          </p:cNvPr>
          <p:cNvSpPr/>
          <p:nvPr/>
        </p:nvSpPr>
        <p:spPr>
          <a:xfrm>
            <a:off x="4632201" y="2413025"/>
            <a:ext cx="4054450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8375D47-A91D-34D0-A232-915021FEE32E}"/>
              </a:ext>
            </a:extLst>
          </p:cNvPr>
          <p:cNvSpPr/>
          <p:nvPr/>
        </p:nvSpPr>
        <p:spPr>
          <a:xfrm>
            <a:off x="4632201" y="250693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Acceptance</a:t>
            </a:r>
            <a:endParaRPr lang="en-US" sz="12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E1DB332-D0E8-6488-DED2-BB5DBE57058A}"/>
              </a:ext>
            </a:extLst>
          </p:cNvPr>
          <p:cNvSpPr/>
          <p:nvPr/>
        </p:nvSpPr>
        <p:spPr>
          <a:xfrm>
            <a:off x="4632201" y="2783309"/>
            <a:ext cx="405445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 from beta testers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2CE9AB1-9366-08E8-F40C-710C9DD4A952}"/>
              </a:ext>
            </a:extLst>
          </p:cNvPr>
          <p:cNvSpPr/>
          <p:nvPr/>
        </p:nvSpPr>
        <p:spPr>
          <a:xfrm>
            <a:off x="457349" y="3262833"/>
            <a:ext cx="165028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Performance Metrics</a:t>
            </a:r>
            <a:endParaRPr lang="en-US" sz="12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9B89DF-C4FB-05DD-A218-C08020579303}"/>
              </a:ext>
            </a:extLst>
          </p:cNvPr>
          <p:cNvSpPr/>
          <p:nvPr/>
        </p:nvSpPr>
        <p:spPr>
          <a:xfrm>
            <a:off x="457349" y="3712964"/>
            <a:ext cx="2642741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6.4s</a:t>
            </a:r>
            <a:endParaRPr lang="en-US" sz="33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0563260-FC99-D420-C18C-5D72AD6783BB}"/>
              </a:ext>
            </a:extLst>
          </p:cNvPr>
          <p:cNvSpPr/>
          <p:nvPr/>
        </p:nvSpPr>
        <p:spPr>
          <a:xfrm>
            <a:off x="943868" y="4299868"/>
            <a:ext cx="166970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Roadmap Generation</a:t>
            </a:r>
            <a:endParaRPr lang="en-US" sz="12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15A552-9E17-E62D-A123-3386ACAEBAFC}"/>
              </a:ext>
            </a:extLst>
          </p:cNvPr>
          <p:cNvSpPr/>
          <p:nvPr/>
        </p:nvSpPr>
        <p:spPr>
          <a:xfrm>
            <a:off x="457349" y="4576242"/>
            <a:ext cx="26427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processing time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0D8FF45-24D5-4704-93EE-8193B9A9E192}"/>
              </a:ext>
            </a:extLst>
          </p:cNvPr>
          <p:cNvSpPr/>
          <p:nvPr/>
        </p:nvSpPr>
        <p:spPr>
          <a:xfrm>
            <a:off x="3250629" y="3712964"/>
            <a:ext cx="2642741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0.9s</a:t>
            </a:r>
            <a:endParaRPr lang="en-US" sz="33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DBC8468-6131-5856-C5D2-10712CA3B54F}"/>
              </a:ext>
            </a:extLst>
          </p:cNvPr>
          <p:cNvSpPr/>
          <p:nvPr/>
        </p:nvSpPr>
        <p:spPr>
          <a:xfrm>
            <a:off x="3755157" y="429986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Page Load</a:t>
            </a:r>
            <a:endParaRPr lang="en-US" sz="12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9F0CD3-171D-219B-6E40-9D5B877B2863}"/>
              </a:ext>
            </a:extLst>
          </p:cNvPr>
          <p:cNvSpPr/>
          <p:nvPr/>
        </p:nvSpPr>
        <p:spPr>
          <a:xfrm>
            <a:off x="3250629" y="4576242"/>
            <a:ext cx="26427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Initial rendering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208EE85-C337-BE62-443F-A2B2F46F8481}"/>
              </a:ext>
            </a:extLst>
          </p:cNvPr>
          <p:cNvSpPr/>
          <p:nvPr/>
        </p:nvSpPr>
        <p:spPr>
          <a:xfrm>
            <a:off x="6043910" y="3712964"/>
            <a:ext cx="2642741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2.8s</a:t>
            </a:r>
            <a:endParaRPr lang="en-US" sz="33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031490B-475D-518D-30B2-1F5CB472E79F}"/>
              </a:ext>
            </a:extLst>
          </p:cNvPr>
          <p:cNvSpPr/>
          <p:nvPr/>
        </p:nvSpPr>
        <p:spPr>
          <a:xfrm>
            <a:off x="6548437" y="429986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Response</a:t>
            </a:r>
            <a:endParaRPr lang="en-US" sz="12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43F8BD9-78E7-044D-31DD-1C1D6C99F6F3}"/>
              </a:ext>
            </a:extLst>
          </p:cNvPr>
          <p:cNvSpPr/>
          <p:nvPr/>
        </p:nvSpPr>
        <p:spPr>
          <a:xfrm>
            <a:off x="6043910" y="4576242"/>
            <a:ext cx="26427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Chatbot latency</a:t>
            </a:r>
            <a:endParaRPr lang="en-US" sz="10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14F4353-D8F6-90F6-BB67-45CDC6E90943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14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691B75-AEF8-9E03-43DE-C56D7411AA88}"/>
              </a:ext>
            </a:extLst>
          </p:cNvPr>
          <p:cNvSpPr/>
          <p:nvPr/>
        </p:nvSpPr>
        <p:spPr>
          <a:xfrm>
            <a:off x="496119" y="817662"/>
            <a:ext cx="52676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Results &amp; Performance Metrics</a:t>
            </a: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7079BD-1552-4ACB-E51A-BA041E37C5F4}"/>
              </a:ext>
            </a:extLst>
          </p:cNvPr>
          <p:cNvSpPr/>
          <p:nvPr/>
        </p:nvSpPr>
        <p:spPr>
          <a:xfrm>
            <a:off x="496119" y="1615008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93.2%</a:t>
            </a:r>
            <a:endParaRPr lang="en-US" sz="3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28F672-D298-084B-4294-24CB4F9CE0A8}"/>
              </a:ext>
            </a:extLst>
          </p:cNvPr>
          <p:cNvSpPr/>
          <p:nvPr/>
        </p:nvSpPr>
        <p:spPr>
          <a:xfrm>
            <a:off x="1493639" y="2259881"/>
            <a:ext cx="19921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Roadmap Success Rate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B16708-19D6-7B89-E4F6-709066E323AA}"/>
              </a:ext>
            </a:extLst>
          </p:cNvPr>
          <p:cNvSpPr/>
          <p:nvPr/>
        </p:nvSpPr>
        <p:spPr>
          <a:xfrm>
            <a:off x="496119" y="25663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Users found generated paths relevant and achievable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1A0A37-693C-B0C4-D41E-B09F797123E5}"/>
              </a:ext>
            </a:extLst>
          </p:cNvPr>
          <p:cNvSpPr/>
          <p:nvPr/>
        </p:nvSpPr>
        <p:spPr>
          <a:xfrm>
            <a:off x="4660553" y="1615008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68%</a:t>
            </a:r>
            <a:endParaRPr lang="en-US" sz="36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F8D17E-7E77-506F-47ED-62EBFB090E55}"/>
              </a:ext>
            </a:extLst>
          </p:cNvPr>
          <p:cNvSpPr/>
          <p:nvPr/>
        </p:nvSpPr>
        <p:spPr>
          <a:xfrm>
            <a:off x="5768206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Course Completion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46280E-E59E-22E0-5E60-ED83207E98D4}"/>
              </a:ext>
            </a:extLst>
          </p:cNvPr>
          <p:cNvSpPr/>
          <p:nvPr/>
        </p:nvSpPr>
        <p:spPr>
          <a:xfrm>
            <a:off x="4660553" y="25663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Students finishing full learning tracks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447537-2896-9109-E2B1-2BB7E8633B07}"/>
              </a:ext>
            </a:extLst>
          </p:cNvPr>
          <p:cNvSpPr/>
          <p:nvPr/>
        </p:nvSpPr>
        <p:spPr>
          <a:xfrm>
            <a:off x="496119" y="3147566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78%</a:t>
            </a:r>
            <a:endParaRPr lang="en-US" sz="3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D8A893-8B74-65CF-9C05-2BB9302A0232}"/>
              </a:ext>
            </a:extLst>
          </p:cNvPr>
          <p:cNvSpPr/>
          <p:nvPr/>
        </p:nvSpPr>
        <p:spPr>
          <a:xfrm>
            <a:off x="1603697" y="3792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Editor Preference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E8B770-7042-0C3A-40A7-74C12E55AFF5}"/>
              </a:ext>
            </a:extLst>
          </p:cNvPr>
          <p:cNvSpPr/>
          <p:nvPr/>
        </p:nvSpPr>
        <p:spPr>
          <a:xfrm>
            <a:off x="496119" y="4098950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Users favoring embedded coding environment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BD47F5-9692-A903-FB34-9011897A6FF3}"/>
              </a:ext>
            </a:extLst>
          </p:cNvPr>
          <p:cNvSpPr/>
          <p:nvPr/>
        </p:nvSpPr>
        <p:spPr>
          <a:xfrm>
            <a:off x="4660553" y="3147566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71%</a:t>
            </a:r>
            <a:endParaRPr lang="en-US" sz="36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C964DD3-E0B2-5C07-C339-D64C3D04EBFF}"/>
              </a:ext>
            </a:extLst>
          </p:cNvPr>
          <p:cNvSpPr/>
          <p:nvPr/>
        </p:nvSpPr>
        <p:spPr>
          <a:xfrm>
            <a:off x="5707261" y="3792438"/>
            <a:ext cx="1893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Mentor Satisfaction</a:t>
            </a:r>
            <a:endParaRPr lang="en-US" sz="13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09020FA-F03D-B1B2-A867-3DFC75DEA234}"/>
              </a:ext>
            </a:extLst>
          </p:cNvPr>
          <p:cNvSpPr/>
          <p:nvPr/>
        </p:nvSpPr>
        <p:spPr>
          <a:xfrm>
            <a:off x="4660553" y="4098950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Positive feedback on chatbot assistance</a:t>
            </a:r>
            <a:endParaRPr lang="en-US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847148-DCBA-9516-70F6-3622431255A8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406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2B1A354D-AAC7-CD8D-4972-0A4C59F08191}"/>
              </a:ext>
            </a:extLst>
          </p:cNvPr>
          <p:cNvSpPr/>
          <p:nvPr/>
        </p:nvSpPr>
        <p:spPr>
          <a:xfrm>
            <a:off x="4653557" y="1820540"/>
            <a:ext cx="4107135" cy="2158008"/>
          </a:xfrm>
          <a:prstGeom prst="roundRect">
            <a:avLst>
              <a:gd name="adj" fmla="val 985"/>
            </a:avLst>
          </a:prstGeom>
          <a:solidFill>
            <a:srgbClr val="84482D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3CB936A-91D4-9A26-456A-6FA4DE326225}"/>
              </a:ext>
            </a:extLst>
          </p:cNvPr>
          <p:cNvSpPr/>
          <p:nvPr/>
        </p:nvSpPr>
        <p:spPr>
          <a:xfrm>
            <a:off x="496119" y="1164952"/>
            <a:ext cx="43791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Advantages &amp; Limitations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AE2B0E-7955-AA88-7BF3-65FDD99B2F00}"/>
              </a:ext>
            </a:extLst>
          </p:cNvPr>
          <p:cNvSpPr/>
          <p:nvPr/>
        </p:nvSpPr>
        <p:spPr>
          <a:xfrm>
            <a:off x="394022" y="1820540"/>
            <a:ext cx="4107135" cy="2158008"/>
          </a:xfrm>
          <a:prstGeom prst="roundRect">
            <a:avLst>
              <a:gd name="adj" fmla="val 985"/>
            </a:avLst>
          </a:prstGeom>
          <a:solidFill>
            <a:srgbClr val="84482D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C55303-809F-59C9-FD72-4E91DD7AD17C}"/>
              </a:ext>
            </a:extLst>
          </p:cNvPr>
          <p:cNvSpPr/>
          <p:nvPr/>
        </p:nvSpPr>
        <p:spPr>
          <a:xfrm>
            <a:off x="535781" y="1962299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Advantages</a:t>
            </a:r>
            <a:endParaRPr lang="en-US" sz="16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E0412C-C053-67CF-4BEF-8A15002D5ED1}"/>
              </a:ext>
            </a:extLst>
          </p:cNvPr>
          <p:cNvSpPr/>
          <p:nvPr/>
        </p:nvSpPr>
        <p:spPr>
          <a:xfrm>
            <a:off x="535781" y="2369865"/>
            <a:ext cx="3823618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 learning paths adapt to individual skill levels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guidance reduces learning barriers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Gamification increases engagement by 45%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Active coding practice improves retention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Mastery-based progression ensures understanding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A60E3C-A414-39C9-8C89-0563C9601AC9}"/>
              </a:ext>
            </a:extLst>
          </p:cNvPr>
          <p:cNvSpPr/>
          <p:nvPr/>
        </p:nvSpPr>
        <p:spPr>
          <a:xfrm>
            <a:off x="4749701" y="1962299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Limitations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3B2054-6B41-2878-043A-C0187CF3AF91}"/>
              </a:ext>
            </a:extLst>
          </p:cNvPr>
          <p:cNvSpPr/>
          <p:nvPr/>
        </p:nvSpPr>
        <p:spPr>
          <a:xfrm>
            <a:off x="4749701" y="2369865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API costs may scale with user growth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Python execution in current version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Mobile interface requires optimization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Internet dependency limits offline access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LLM response variability in edge cases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925D78-C579-3494-507E-3B1F9D073182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263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7138D5-1B07-7E75-D163-97BAB59BD434}"/>
              </a:ext>
            </a:extLst>
          </p:cNvPr>
          <p:cNvSpPr/>
          <p:nvPr/>
        </p:nvSpPr>
        <p:spPr>
          <a:xfrm>
            <a:off x="521643" y="358750"/>
            <a:ext cx="3838798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Scope &amp; Conclusion</a:t>
            </a:r>
            <a:endParaRPr lang="en-US" sz="2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CB8168-9303-EB8E-117E-E59A64E333D9}"/>
              </a:ext>
            </a:extLst>
          </p:cNvPr>
          <p:cNvSpPr/>
          <p:nvPr/>
        </p:nvSpPr>
        <p:spPr>
          <a:xfrm>
            <a:off x="521643" y="764456"/>
            <a:ext cx="1869802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028581-2B49-E3FF-A1F9-BEA8C11CA7F5}"/>
              </a:ext>
            </a:extLst>
          </p:cNvPr>
          <p:cNvSpPr/>
          <p:nvPr/>
        </p:nvSpPr>
        <p:spPr>
          <a:xfrm>
            <a:off x="521643" y="1067851"/>
            <a:ext cx="4001691" cy="676647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5EE210-1F4C-08FD-BC2D-5B13E99DF252}"/>
              </a:ext>
            </a:extLst>
          </p:cNvPr>
          <p:cNvSpPr/>
          <p:nvPr/>
        </p:nvSpPr>
        <p:spPr>
          <a:xfrm>
            <a:off x="653281" y="1192372"/>
            <a:ext cx="172901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IN" sz="1200" dirty="0"/>
              <a:t>LLM Integration</a:t>
            </a:r>
            <a:endParaRPr lang="en-US" sz="1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3A179F-95E9-6833-E285-325AD8D8B5F8}"/>
              </a:ext>
            </a:extLst>
          </p:cNvPr>
          <p:cNvSpPr/>
          <p:nvPr/>
        </p:nvSpPr>
        <p:spPr>
          <a:xfrm>
            <a:off x="653281" y="1387273"/>
            <a:ext cx="3109827" cy="934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900" dirty="0"/>
              <a:t>Integrate advanced Large Language Models (LLMs) for highly personalized learning</a:t>
            </a:r>
          </a:p>
          <a:p>
            <a:pPr>
              <a:lnSpc>
                <a:spcPts val="1350"/>
              </a:lnSpc>
            </a:pPr>
            <a:r>
              <a:rPr lang="en-US" sz="900" dirty="0"/>
              <a:t> experiences.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2781E9-C3C1-D875-608E-1440D3EB92C5}"/>
              </a:ext>
            </a:extLst>
          </p:cNvPr>
          <p:cNvSpPr/>
          <p:nvPr/>
        </p:nvSpPr>
        <p:spPr>
          <a:xfrm>
            <a:off x="4620518" y="1130350"/>
            <a:ext cx="4001765" cy="676647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360642-9547-498D-563D-94BE4C035A80}"/>
              </a:ext>
            </a:extLst>
          </p:cNvPr>
          <p:cNvSpPr/>
          <p:nvPr/>
        </p:nvSpPr>
        <p:spPr>
          <a:xfrm>
            <a:off x="4752156" y="126198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Voice Mentor</a:t>
            </a:r>
            <a:endParaRPr lang="en-US" sz="11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0767F8-B646-9BA7-5450-620BC355C44B}"/>
              </a:ext>
            </a:extLst>
          </p:cNvPr>
          <p:cNvSpPr/>
          <p:nvPr/>
        </p:nvSpPr>
        <p:spPr>
          <a:xfrm>
            <a:off x="4752156" y="1503685"/>
            <a:ext cx="373848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Speech-based AI interaction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8408269-949F-ABD7-4AC9-32E473D0C921}"/>
              </a:ext>
            </a:extLst>
          </p:cNvPr>
          <p:cNvSpPr/>
          <p:nvPr/>
        </p:nvSpPr>
        <p:spPr>
          <a:xfrm>
            <a:off x="521643" y="1904181"/>
            <a:ext cx="4001691" cy="676647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FA7FEE-7488-E665-A1A2-D2779F67769D}"/>
              </a:ext>
            </a:extLst>
          </p:cNvPr>
          <p:cNvSpPr/>
          <p:nvPr/>
        </p:nvSpPr>
        <p:spPr>
          <a:xfrm>
            <a:off x="653281" y="203582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9C3B3C-E078-F63A-1943-9E79573CD90A}"/>
              </a:ext>
            </a:extLst>
          </p:cNvPr>
          <p:cNvSpPr/>
          <p:nvPr/>
        </p:nvSpPr>
        <p:spPr>
          <a:xfrm>
            <a:off x="653281" y="2277517"/>
            <a:ext cx="373841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iOS and Android applications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5E5244B-FD6A-30F2-F0CA-F3069D16ED9E}"/>
              </a:ext>
            </a:extLst>
          </p:cNvPr>
          <p:cNvSpPr/>
          <p:nvPr/>
        </p:nvSpPr>
        <p:spPr>
          <a:xfrm>
            <a:off x="4620518" y="1904181"/>
            <a:ext cx="4001765" cy="676647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9EA4CA1-6093-4B08-5E99-32AFCC90D7B6}"/>
              </a:ext>
            </a:extLst>
          </p:cNvPr>
          <p:cNvSpPr/>
          <p:nvPr/>
        </p:nvSpPr>
        <p:spPr>
          <a:xfrm>
            <a:off x="4752156" y="203582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B4F5B1-D6B8-E036-23A4-6437F710D840}"/>
              </a:ext>
            </a:extLst>
          </p:cNvPr>
          <p:cNvSpPr/>
          <p:nvPr/>
        </p:nvSpPr>
        <p:spPr>
          <a:xfrm>
            <a:off x="4752156" y="2277517"/>
            <a:ext cx="373848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Predictive learning insights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071B80-ABCA-D162-005C-0E7785877775}"/>
              </a:ext>
            </a:extLst>
          </p:cNvPr>
          <p:cNvSpPr/>
          <p:nvPr/>
        </p:nvSpPr>
        <p:spPr>
          <a:xfrm>
            <a:off x="521643" y="2726606"/>
            <a:ext cx="1761009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6451BDD-7ADB-D07B-C3D3-14C289EA8859}"/>
              </a:ext>
            </a:extLst>
          </p:cNvPr>
          <p:cNvSpPr/>
          <p:nvPr/>
        </p:nvSpPr>
        <p:spPr>
          <a:xfrm>
            <a:off x="521643" y="3092500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CF3B31-0EA7-6D0F-39C6-292F94533971}"/>
              </a:ext>
            </a:extLst>
          </p:cNvPr>
          <p:cNvSpPr/>
          <p:nvPr/>
        </p:nvSpPr>
        <p:spPr>
          <a:xfrm>
            <a:off x="882923" y="3132832"/>
            <a:ext cx="3628281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Personalized AI learning significantly improves engagement metrics</a:t>
            </a: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CC4FB5-9484-8122-3128-09F67B1DCEA7}"/>
              </a:ext>
            </a:extLst>
          </p:cNvPr>
          <p:cNvSpPr/>
          <p:nvPr/>
        </p:nvSpPr>
        <p:spPr>
          <a:xfrm>
            <a:off x="4632722" y="3092500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6EE37F5-87FD-F1FC-1578-A39E8D531346}"/>
              </a:ext>
            </a:extLst>
          </p:cNvPr>
          <p:cNvSpPr/>
          <p:nvPr/>
        </p:nvSpPr>
        <p:spPr>
          <a:xfrm>
            <a:off x="4994002" y="3132832"/>
            <a:ext cx="3628281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Gamification enhances consistency and reduces dropout rates</a:t>
            </a:r>
            <a:endParaRPr lang="en-US" sz="11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0C82D1-B6C6-C07B-254A-7E014CCEE10D}"/>
              </a:ext>
            </a:extLst>
          </p:cNvPr>
          <p:cNvSpPr/>
          <p:nvPr/>
        </p:nvSpPr>
        <p:spPr>
          <a:xfrm>
            <a:off x="521643" y="3694137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7556A24-FDDD-8C6C-0A64-8101BA5F58B0}"/>
              </a:ext>
            </a:extLst>
          </p:cNvPr>
          <p:cNvSpPr/>
          <p:nvPr/>
        </p:nvSpPr>
        <p:spPr>
          <a:xfrm>
            <a:off x="882923" y="3734470"/>
            <a:ext cx="3628281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Mastery-based progression ensures knowledge retention</a:t>
            </a:r>
            <a:endParaRPr lang="en-US" sz="11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3B908AE-CD5D-8D03-D87B-8BA55EB9DCBA}"/>
              </a:ext>
            </a:extLst>
          </p:cNvPr>
          <p:cNvSpPr/>
          <p:nvPr/>
        </p:nvSpPr>
        <p:spPr>
          <a:xfrm>
            <a:off x="4632722" y="3694137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54B2A96-086C-88F5-AFBA-3CCADD503E43}"/>
              </a:ext>
            </a:extLst>
          </p:cNvPr>
          <p:cNvSpPr/>
          <p:nvPr/>
        </p:nvSpPr>
        <p:spPr>
          <a:xfrm>
            <a:off x="4994002" y="3734470"/>
            <a:ext cx="3628281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Generative AI can reshape digital education paradigms</a:t>
            </a:r>
            <a:endParaRPr lang="en-US" sz="11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CD04CB-0D1E-D626-FA38-2038B798782B}"/>
              </a:ext>
            </a:extLst>
          </p:cNvPr>
          <p:cNvSpPr/>
          <p:nvPr/>
        </p:nvSpPr>
        <p:spPr>
          <a:xfrm>
            <a:off x="521643" y="4247108"/>
            <a:ext cx="2063651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Applications</a:t>
            </a:r>
            <a:endParaRPr lang="en-US" sz="13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FB34EEF-CE26-5CC6-80FF-89A5CF050190}"/>
              </a:ext>
            </a:extLst>
          </p:cNvPr>
          <p:cNvSpPr/>
          <p:nvPr/>
        </p:nvSpPr>
        <p:spPr>
          <a:xfrm>
            <a:off x="521643" y="4613002"/>
            <a:ext cx="81006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Self-learning platforms, coding bootcamps, universities, EdTech startups, corporate training programs, and AI-powered LMS systems.</a:t>
            </a:r>
            <a:endParaRPr lang="en-US" sz="9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806BE44-64A9-8583-CBC4-F46293821C28}"/>
              </a:ext>
            </a:extLst>
          </p:cNvPr>
          <p:cNvSpPr/>
          <p:nvPr/>
        </p:nvSpPr>
        <p:spPr>
          <a:xfrm>
            <a:off x="8018585" y="4853354"/>
            <a:ext cx="1062110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5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D4B103-A1D2-31EB-01BC-03E955E39436}"/>
              </a:ext>
            </a:extLst>
          </p:cNvPr>
          <p:cNvSpPr txBox="1"/>
          <p:nvPr/>
        </p:nvSpPr>
        <p:spPr>
          <a:xfrm>
            <a:off x="2124221" y="1418199"/>
            <a:ext cx="4895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489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1246</Words>
  <Application>Microsoft Office PowerPoint</Application>
  <PresentationFormat>On-screen Show (16:9)</PresentationFormat>
  <Paragraphs>255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Inter Medium</vt:lpstr>
      <vt:lpstr>DM Sans Semi Bold</vt:lpstr>
      <vt:lpstr>Arial</vt:lpstr>
      <vt:lpstr>DM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dileep lopinti</cp:lastModifiedBy>
  <cp:revision>7</cp:revision>
  <dcterms:created xsi:type="dcterms:W3CDTF">2026-05-07T17:43:53Z</dcterms:created>
  <dcterms:modified xsi:type="dcterms:W3CDTF">2026-05-08T05:53:49Z</dcterms:modified>
</cp:coreProperties>
</file>